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an Dung 20230021" userId="c115f8f5-b207-431c-b79c-b0eeac878c65" providerId="ADAL" clId="{0BED4221-263B-4C70-A693-F590745D288A}"/>
    <pc:docChg chg="undo custSel addSld modSld">
      <pc:chgData name="Nguyen Tan Dung 20230021" userId="c115f8f5-b207-431c-b79c-b0eeac878c65" providerId="ADAL" clId="{0BED4221-263B-4C70-A693-F590745D288A}" dt="2025-11-21T15:43:04.453" v="222" actId="20577"/>
      <pc:docMkLst>
        <pc:docMk/>
      </pc:docMkLst>
      <pc:sldChg chg="modSp new mod">
        <pc:chgData name="Nguyen Tan Dung 20230021" userId="c115f8f5-b207-431c-b79c-b0eeac878c65" providerId="ADAL" clId="{0BED4221-263B-4C70-A693-F590745D288A}" dt="2025-11-21T15:43:04.453" v="222" actId="20577"/>
        <pc:sldMkLst>
          <pc:docMk/>
          <pc:sldMk cId="3265249407" sldId="260"/>
        </pc:sldMkLst>
        <pc:spChg chg="mod">
          <ac:chgData name="Nguyen Tan Dung 20230021" userId="c115f8f5-b207-431c-b79c-b0eeac878c65" providerId="ADAL" clId="{0BED4221-263B-4C70-A693-F590745D288A}" dt="2025-11-21T15:41:57.844" v="51" actId="403"/>
          <ac:spMkLst>
            <pc:docMk/>
            <pc:sldMk cId="3265249407" sldId="260"/>
            <ac:spMk id="2" creationId="{4B01FE8C-1DE3-5E14-EBEE-35544DCB780E}"/>
          </ac:spMkLst>
        </pc:spChg>
        <pc:spChg chg="mod">
          <ac:chgData name="Nguyen Tan Dung 20230021" userId="c115f8f5-b207-431c-b79c-b0eeac878c65" providerId="ADAL" clId="{0BED4221-263B-4C70-A693-F590745D288A}" dt="2025-11-21T15:43:04.453" v="222" actId="20577"/>
          <ac:spMkLst>
            <pc:docMk/>
            <pc:sldMk cId="3265249407" sldId="260"/>
            <ac:spMk id="3" creationId="{FF14BBFC-9BD9-9D42-8201-D5DD7A9906A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A322B-75D3-AC6B-02A9-8F5862C0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CD153-26BA-E65F-8ECE-F6EECFAF5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1F5AF-0155-196A-E4B5-A2670CA3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BAD33-F74E-E8B0-F4B4-75E1CE69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0A814-2D87-25C1-C54E-E0E41A0A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7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FA05D-03B0-AAC1-33F4-ED9EB275A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79409-4238-B035-C1F7-45284BB71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71552-99C6-EB3A-347B-4E254A48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7EDB3-4663-0D7F-F0CB-5464F20C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96857-1363-00B7-B6B3-34181D74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6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1977E-7D9A-C1C8-E50F-63AD65CA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A2BBF-4310-0D49-1779-76FFB829C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7AC94-B270-B8C0-49E1-FD0C9ADB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DBB0C-8A1A-1857-3D47-5395DDCE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BC971-6776-DE90-4940-009AC66A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3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A998-C6C2-A255-A3AF-2B0D4B2CA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6FAE4-1976-7E5B-424C-6B85ECBB8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77662-CC9D-71DA-4DCD-F3A597C98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989B0-A0A3-C28A-18B8-BB06DDB7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6F013-4F01-5F94-4FB6-FA45953E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0288F-55C3-55A7-1D74-8A8F3B7B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5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A2709-EB00-3D1E-A596-9DF5B935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CA89B-29DA-B61A-1A7F-583E0E1EA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F657A-999B-86B0-2AF8-E7FB08DD2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88A1C-A19A-A514-FB89-510E1C4A3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F81D86-4BBC-888E-0A38-2E2C1D935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EB78A5-C33B-547D-98D3-76C19F40F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43F23-04F6-E812-3078-1991B743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0D6C8-983B-3333-E77D-E423C9B5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87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C0B6-5CDE-C55F-3108-92553572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9EAF2-088C-D7FE-ECB3-7E3C5BA1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20732-F8AC-869E-D531-13F775AB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B0D22-6429-2DF8-EDB2-335938EB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3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BFE0CF-9A80-9976-0364-9A8713D7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BA17F-50B1-D6B4-40F8-14044209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BC05A-6BD1-C023-1ED5-F3EE2CD1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2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F141-D2B6-8428-11F0-8CDA98544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E1908-29DB-6CB0-F59D-6AF7F7CB7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CC6C-A4AB-899D-A8A4-359113E11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A1852-B088-0A54-C221-718678211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BC090-7F95-198E-1709-A1ADEA0D1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34749-157C-04EA-B426-F1C3F37B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7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8B0C-6BA8-6EBC-9897-CDA7E7E1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2F46DC-0027-3E4B-A675-0824B4567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C9A49-E626-E87B-C1A4-64417A7FF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27531-95CA-E90E-B130-25220905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782CE-D62C-4177-6983-C68E5087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3C934-F632-E4A3-3541-0FF2BA525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85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A26A-3310-FE81-9A50-E11434EC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5E8AF-7699-E6D3-A1AD-CC2AF8727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7EADD-F1CB-8A6E-743F-FB20605F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3977A-223B-C2CB-D924-30DCAB61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A02C4-9A14-4B52-F7CB-66C0FD6E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0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C0FDDF-EA5C-1C72-6504-A06884813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F6FCC-CDDD-A2D1-940D-5FDA680E0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E9474-9575-58DE-52E4-BCAC914F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D2D07-DB82-90B4-8682-07FDDBC06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1C5AC-B536-E51A-FD13-778DC044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1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AAFF76-0251-39A6-8FCD-FD754575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E89C4-0B80-8773-D91A-9C547F987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089DA-12D9-B0B8-60DD-61430D958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9700E-5BCC-E5E2-50F7-45F561D9B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7E957-B33B-A19F-72CE-1FBB84764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7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niqueSciortino/sbrpMaltaHeterogeneousFleet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6653-FD72-4992-9B41-776DB82E7D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School bus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3961119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6048A4-5130-4423-40A2-962DE6E942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871"/>
          <a:stretch>
            <a:fillRect/>
          </a:stretch>
        </p:blipFill>
        <p:spPr>
          <a:xfrm>
            <a:off x="7683156" y="180974"/>
            <a:ext cx="4450234" cy="3219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02DBE-7FEF-A47C-DB85-05DDE8378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61"/>
          <a:stretch>
            <a:fillRect/>
          </a:stretch>
        </p:blipFill>
        <p:spPr>
          <a:xfrm>
            <a:off x="6163537" y="3305174"/>
            <a:ext cx="4986660" cy="34432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245686-CF40-36F0-BEB4-0982B60905E5}"/>
              </a:ext>
            </a:extLst>
          </p:cNvPr>
          <p:cNvSpPr/>
          <p:nvPr/>
        </p:nvSpPr>
        <p:spPr>
          <a:xfrm>
            <a:off x="11590021" y="105237"/>
            <a:ext cx="1086739" cy="2792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47BC34-F342-CF4C-2789-30E040FA9D81}"/>
              </a:ext>
            </a:extLst>
          </p:cNvPr>
          <p:cNvSpPr/>
          <p:nvPr/>
        </p:nvSpPr>
        <p:spPr>
          <a:xfrm>
            <a:off x="6029325" y="3624354"/>
            <a:ext cx="1053191" cy="2572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7C044-8090-BDAD-CBC3-A2BBAADE5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98" y="891141"/>
            <a:ext cx="5581650" cy="94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510834-D7A1-CCAE-385E-3CA0D026C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8" y="1757916"/>
            <a:ext cx="5667375" cy="49053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562F14-9D0D-7EF9-487F-8CC3C0F51B4B}"/>
              </a:ext>
            </a:extLst>
          </p:cNvPr>
          <p:cNvSpPr txBox="1"/>
          <p:nvPr/>
        </p:nvSpPr>
        <p:spPr>
          <a:xfrm>
            <a:off x="866775" y="180974"/>
            <a:ext cx="558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description</a:t>
            </a:r>
          </a:p>
        </p:txBody>
      </p:sp>
    </p:spTree>
    <p:extLst>
      <p:ext uri="{BB962C8B-B14F-4D97-AF65-F5344CB8AC3E}">
        <p14:creationId xmlns:p14="http://schemas.microsoft.com/office/powerpoint/2010/main" val="59453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6B10D-2671-F66B-EC09-800DA70BF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67FD64-F1FF-6D18-6382-7CBDD9A922CA}"/>
              </a:ext>
            </a:extLst>
          </p:cNvPr>
          <p:cNvSpPr/>
          <p:nvPr/>
        </p:nvSpPr>
        <p:spPr>
          <a:xfrm>
            <a:off x="6029325" y="3624354"/>
            <a:ext cx="1053191" cy="2572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6609B-4330-F137-907A-E18AEA15E8E5}"/>
              </a:ext>
            </a:extLst>
          </p:cNvPr>
          <p:cNvSpPr txBox="1"/>
          <p:nvPr/>
        </p:nvSpPr>
        <p:spPr>
          <a:xfrm>
            <a:off x="866775" y="180974"/>
            <a:ext cx="558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description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05412-8034-DEFA-19B6-7F25915F726E}"/>
              </a:ext>
            </a:extLst>
          </p:cNvPr>
          <p:cNvSpPr txBox="1"/>
          <p:nvPr/>
        </p:nvSpPr>
        <p:spPr>
          <a:xfrm>
            <a:off x="381000" y="933450"/>
            <a:ext cx="115633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sz="2400" dirty="0" err="1"/>
              <a:t>Mỗi</a:t>
            </a:r>
            <a:r>
              <a:rPr lang="en-US" sz="2400" dirty="0"/>
              <a:t> address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đều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đc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đi</a:t>
            </a:r>
            <a:r>
              <a:rPr lang="en-US" sz="2400" dirty="0"/>
              <a:t> qua 1 </a:t>
            </a:r>
            <a:r>
              <a:rPr lang="en-US" sz="2400" dirty="0" err="1"/>
              <a:t>điểm</a:t>
            </a:r>
            <a:r>
              <a:rPr lang="en-US" sz="2400" dirty="0"/>
              <a:t> bus stop 1 </a:t>
            </a:r>
            <a:r>
              <a:rPr lang="en-US" sz="2400" dirty="0" err="1"/>
              <a:t>lần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1 bus stop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en-US" sz="2400" dirty="0" err="1"/>
              <a:t>đi</a:t>
            </a:r>
            <a:r>
              <a:rPr lang="en-US" sz="2400" dirty="0"/>
              <a:t> qua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 ko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vượt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C_max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1 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vượt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m_t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1 </a:t>
            </a:r>
            <a:r>
              <a:rPr lang="en-US" sz="2400" dirty="0" err="1"/>
              <a:t>xe</a:t>
            </a:r>
            <a:r>
              <a:rPr lang="en-US" sz="2400" dirty="0"/>
              <a:t> =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di </a:t>
            </a: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bustop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tiên</a:t>
            </a:r>
            <a:r>
              <a:rPr lang="en-US" sz="2400" dirty="0"/>
              <a:t> </a:t>
            </a:r>
            <a:r>
              <a:rPr lang="en-US" sz="2400" dirty="0" err="1"/>
              <a:t>tới</a:t>
            </a:r>
            <a:r>
              <a:rPr lang="en-US" sz="2400" dirty="0"/>
              <a:t> </a:t>
            </a:r>
            <a:r>
              <a:rPr lang="en-US" sz="2400" dirty="0" err="1"/>
              <a:t>trường</a:t>
            </a:r>
            <a:r>
              <a:rPr lang="en-US" sz="2400" dirty="0"/>
              <a:t> +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r>
              <a:rPr lang="en-US" sz="2400" dirty="0"/>
              <a:t> 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bus stop</a:t>
            </a:r>
          </a:p>
          <a:p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r>
              <a:rPr lang="en-US" sz="2400" dirty="0"/>
              <a:t> 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bus stop = 15s + 5s*(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lên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).</a:t>
            </a:r>
          </a:p>
          <a:p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r>
              <a:rPr lang="en-US" sz="2400" dirty="0"/>
              <a:t>:</a:t>
            </a:r>
          </a:p>
          <a:p>
            <a:r>
              <a:rPr lang="en-US" sz="2400" dirty="0"/>
              <a:t>-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thiểu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017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BC11A2-7610-F62C-D411-F54C9B8297BB}"/>
              </a:ext>
            </a:extLst>
          </p:cNvPr>
          <p:cNvSpPr txBox="1"/>
          <p:nvPr/>
        </p:nvSpPr>
        <p:spPr>
          <a:xfrm>
            <a:off x="685800" y="276225"/>
            <a:ext cx="8239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&amp; experiment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7190C9-B042-8FF9-A780-BA3DD8DC3D3E}"/>
              </a:ext>
            </a:extLst>
          </p:cNvPr>
          <p:cNvSpPr txBox="1"/>
          <p:nvPr/>
        </p:nvSpPr>
        <p:spPr>
          <a:xfrm>
            <a:off x="447675" y="1076325"/>
            <a:ext cx="112395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 1: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SOTA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Data: </a:t>
            </a:r>
            <a:r>
              <a:rPr lang="en-US" dirty="0">
                <a:hlinkClick r:id="rId2"/>
              </a:rPr>
              <a:t>https://github.com/MoniqueSciortino/sbrpMaltaHeterogeneousFleets</a:t>
            </a:r>
            <a:endParaRPr lang="en-US" dirty="0"/>
          </a:p>
          <a:p>
            <a:r>
              <a:rPr lang="en-US" dirty="0" err="1"/>
              <a:t>Gồm</a:t>
            </a:r>
            <a:r>
              <a:rPr lang="en-US" dirty="0"/>
              <a:t> </a:t>
            </a:r>
          </a:p>
          <a:p>
            <a:r>
              <a:rPr lang="en-US" dirty="0"/>
              <a:t>s0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trường</a:t>
            </a:r>
            <a:endParaRPr lang="en-US" dirty="0"/>
          </a:p>
          <a:p>
            <a:r>
              <a:rPr lang="en-US" dirty="0"/>
              <a:t>s …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s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dừng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bus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  <a:p>
            <a:r>
              <a:rPr lang="en-US" dirty="0"/>
              <a:t>a…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w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address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sinh</a:t>
            </a:r>
            <a:endParaRPr lang="en-US" dirty="0"/>
          </a:p>
          <a:p>
            <a:r>
              <a:rPr lang="en-US" dirty="0"/>
              <a:t>d…ma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bus stop</a:t>
            </a:r>
          </a:p>
          <a:p>
            <a:r>
              <a:rPr lang="en-US" dirty="0"/>
              <a:t>w…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address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bus stop.</a:t>
            </a:r>
          </a:p>
          <a:p>
            <a:r>
              <a:rPr lang="en-US" dirty="0"/>
              <a:t>Xem file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“ProblemFormat.pdf”</a:t>
            </a:r>
          </a:p>
          <a:p>
            <a:r>
              <a:rPr lang="en-US" dirty="0" err="1"/>
              <a:t>Về</a:t>
            </a:r>
            <a:r>
              <a:rPr lang="en-US" dirty="0"/>
              <a:t> Capacity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,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,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chở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:</a:t>
            </a:r>
          </a:p>
          <a:p>
            <a:r>
              <a:rPr lang="en-US" dirty="0"/>
              <a:t>For locations in Malta, </a:t>
            </a:r>
            <a:r>
              <a:rPr lang="en-US" dirty="0" err="1"/>
              <a:t>C_max</a:t>
            </a:r>
            <a:r>
              <a:rPr lang="en-US" dirty="0"/>
              <a:t> = 53, For locations in the UK, 80, those for locations in Australia 80.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: </a:t>
            </a:r>
            <a:r>
              <a:rPr lang="en-US" b="1" dirty="0"/>
              <a:t>A School Bus Routing Heuristic Algorithm Allowing Heterogeneous Fleets and Bus Stop Selection, Monique Sciortino, 2022</a:t>
            </a:r>
          </a:p>
          <a:p>
            <a:pPr marL="285750" indent="-285750">
              <a:buFontTx/>
              <a:buChar char="-"/>
            </a:pPr>
            <a:endParaRPr lang="en-US" b="1" dirty="0"/>
          </a:p>
          <a:p>
            <a:r>
              <a:rPr lang="en-US" b="1" dirty="0"/>
              <a:t>Experiment 2: So </a:t>
            </a:r>
            <a:r>
              <a:rPr lang="en-US" b="1" dirty="0" err="1"/>
              <a:t>sánh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đội</a:t>
            </a:r>
            <a:r>
              <a:rPr lang="en-US" b="1" dirty="0"/>
              <a:t> </a:t>
            </a:r>
            <a:r>
              <a:rPr lang="en-US" b="1" dirty="0" err="1"/>
              <a:t>xe</a:t>
            </a:r>
            <a:r>
              <a:rPr lang="en-US" b="1" dirty="0"/>
              <a:t> </a:t>
            </a:r>
            <a:r>
              <a:rPr lang="en-US" b="1" dirty="0" err="1"/>
              <a:t>đồng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b="1" dirty="0"/>
              <a:t>:</a:t>
            </a:r>
          </a:p>
          <a:p>
            <a:r>
              <a:rPr lang="en-US" b="1" dirty="0"/>
              <a:t>- Data (input, output</a:t>
            </a:r>
            <a:r>
              <a:rPr lang="en-US" b="1"/>
              <a:t>, source code): </a:t>
            </a:r>
            <a:r>
              <a:rPr lang="en-US" b="1" dirty="0" err="1"/>
              <a:t>giống</a:t>
            </a:r>
            <a:r>
              <a:rPr lang="en-US" b="1" dirty="0"/>
              <a:t> ở </a:t>
            </a:r>
            <a:r>
              <a:rPr lang="en-US" b="1" dirty="0" err="1"/>
              <a:t>trên</a:t>
            </a:r>
            <a:r>
              <a:rPr lang="en-US" b="1" dirty="0"/>
              <a:t>, </a:t>
            </a:r>
            <a:r>
              <a:rPr lang="en-US" b="1" dirty="0" err="1"/>
              <a:t>nhưng</a:t>
            </a:r>
            <a:r>
              <a:rPr lang="en-US" b="1" dirty="0"/>
              <a:t> ở link </a:t>
            </a:r>
            <a:r>
              <a:rPr lang="en-US" b="1" dirty="0" err="1"/>
              <a:t>khác</a:t>
            </a:r>
            <a:r>
              <a:rPr lang="en-US" b="1" dirty="0"/>
              <a:t>: https://www.rhydlewis.eu/sbrp/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06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FE8C-1DE3-5E14-EBEE-35544DCB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Input Format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BBFC-9BD9-9D42-8201-D5DD7A990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num_stop</a:t>
            </a:r>
            <a:r>
              <a:rPr lang="en-US" sz="1800" dirty="0"/>
              <a:t> </a:t>
            </a:r>
            <a:r>
              <a:rPr lang="en-US" sz="1800" dirty="0" err="1"/>
              <a:t>num_address</a:t>
            </a:r>
            <a:r>
              <a:rPr lang="en-US" sz="1800" dirty="0"/>
              <a:t> </a:t>
            </a:r>
            <a:r>
              <a:rPr lang="en-US" sz="1800" dirty="0" err="1"/>
              <a:t>num_walks</a:t>
            </a:r>
            <a:r>
              <a:rPr lang="en-US" sz="1800" dirty="0"/>
              <a:t> </a:t>
            </a:r>
            <a:r>
              <a:rPr lang="en-US" sz="1800" dirty="0" err="1"/>
              <a:t>m_e</a:t>
            </a:r>
            <a:r>
              <a:rPr lang="en-US" sz="1800" dirty="0"/>
              <a:t> </a:t>
            </a:r>
            <a:r>
              <a:rPr lang="en-US" sz="1800" dirty="0" err="1"/>
              <a:t>m_w</a:t>
            </a:r>
            <a:r>
              <a:rPr lang="en-US" sz="1800" dirty="0"/>
              <a:t> </a:t>
            </a:r>
            <a:r>
              <a:rPr lang="en-US" sz="1800" dirty="0" err="1"/>
              <a:t>m_t</a:t>
            </a:r>
            <a:r>
              <a:rPr lang="en-US" sz="1800" dirty="0"/>
              <a:t> capacity </a:t>
            </a:r>
            <a:r>
              <a:rPr lang="en-US" sz="1800" dirty="0" err="1"/>
              <a:t>sec_per_passenger</a:t>
            </a:r>
            <a:r>
              <a:rPr lang="en-US" sz="1800" dirty="0"/>
              <a:t> </a:t>
            </a:r>
            <a:r>
              <a:rPr lang="en-US" sz="1800" dirty="0" err="1"/>
              <a:t>sec_per_stop</a:t>
            </a: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stop_latt</a:t>
            </a:r>
            <a:r>
              <a:rPr lang="en-US" sz="1800" dirty="0"/>
              <a:t>[0] </a:t>
            </a:r>
            <a:r>
              <a:rPr lang="en-US" sz="1800" dirty="0" err="1"/>
              <a:t>stop_long</a:t>
            </a:r>
            <a:r>
              <a:rPr lang="en-US" sz="1800" dirty="0"/>
              <a:t>[0]</a:t>
            </a:r>
          </a:p>
          <a:p>
            <a:pPr marL="0" indent="0">
              <a:buNone/>
            </a:pPr>
            <a:r>
              <a:rPr lang="en-US" sz="1800" dirty="0"/>
              <a:t>…</a:t>
            </a:r>
          </a:p>
          <a:p>
            <a:pPr marL="0" indent="0">
              <a:buNone/>
            </a:pPr>
            <a:r>
              <a:rPr lang="en-US" sz="1800" dirty="0" err="1"/>
              <a:t>stop_latt</a:t>
            </a:r>
            <a:r>
              <a:rPr lang="en-US" sz="1800" dirty="0"/>
              <a:t>[</a:t>
            </a:r>
            <a:r>
              <a:rPr lang="en-US" sz="1800" dirty="0" err="1"/>
              <a:t>num_stop</a:t>
            </a:r>
            <a:r>
              <a:rPr lang="en-US" sz="1800" dirty="0"/>
              <a:t> – 1] </a:t>
            </a:r>
            <a:r>
              <a:rPr lang="en-US" sz="1800" dirty="0" err="1"/>
              <a:t>stop_long</a:t>
            </a:r>
            <a:r>
              <a:rPr lang="en-US" sz="1800"/>
              <a:t>[num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65249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415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School bus routing problem</vt:lpstr>
      <vt:lpstr>PowerPoint Presentation</vt:lpstr>
      <vt:lpstr>PowerPoint Presentation</vt:lpstr>
      <vt:lpstr>PowerPoint Presentation</vt:lpstr>
      <vt:lpstr>Input Format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 Nguyen</dc:creator>
  <cp:lastModifiedBy>Nguyen Tan Dung 20230021</cp:lastModifiedBy>
  <cp:revision>5</cp:revision>
  <dcterms:created xsi:type="dcterms:W3CDTF">2025-11-10T01:03:00Z</dcterms:created>
  <dcterms:modified xsi:type="dcterms:W3CDTF">2025-11-21T15:43:05Z</dcterms:modified>
</cp:coreProperties>
</file>